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47472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DA291C"/>
                </a:solidFill>
                <a:latin typeface="Helvetica"/>
              </a:defRPr>
            </a:pPr>
            <a:r>
              <a:t>PROYECTO TABLERO EJECUTIVO DE TALENTO</a:t>
            </a:r>
          </a:p>
          <a:p>
            <a:pPr>
              <a:spcAft>
                <a:spcPts val="1000"/>
              </a:spcAft>
              <a:defRPr sz="3200" b="1">
                <a:solidFill>
                  <a:srgbClr val="FFFFFF"/>
                </a:solidFill>
                <a:latin typeface="Helvetica"/>
              </a:defRPr>
            </a:pPr>
            <a:r>
              <a:t>Implementación del Nuevo Tablero de Liderazgo</a:t>
            </a:r>
          </a:p>
          <a:p>
            <a:pPr>
              <a:spcAft>
                <a:spcPts val="3000"/>
              </a:spcAft>
              <a:defRPr sz="1600">
                <a:solidFill>
                  <a:srgbClr val="BEC8D7"/>
                </a:solidFill>
                <a:latin typeface="Helvetica"/>
              </a:defRPr>
            </a:pPr>
            <a:r>
              <a:t>Arquitectura Cloud, Control de Acceso Jerárquico (Directores / Gerentes) y Alta Disponibilidad</a:t>
            </a:r>
          </a:p>
          <a:p>
            <a:pPr>
              <a:defRPr sz="1200" b="1">
                <a:solidFill>
                  <a:srgbClr val="8C9BAF"/>
                </a:solidFill>
                <a:latin typeface="Helvetica"/>
              </a:defRPr>
            </a:pPr>
            <a:r>
              <a:t>Claro Colombia  |  Gestión Humana &amp; Analítica de Talento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291C"/>
                </a:solidFill>
                <a:latin typeface="Helvetica"/>
              </a:defRPr>
            </a:pPr>
            <a:r>
              <a:t>ESTRATEGIA &amp; VISIÓN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71D2C"/>
                </a:solidFill>
                <a:latin typeface="Helvetica"/>
              </a:defRPr>
            </a:pPr>
            <a:r>
              <a:t>Objetivo y Pilares del Nuevo Tablero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2468880" cy="109728"/>
          </a:xfrm>
          <a:prstGeom prst="round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103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DA291C"/>
                </a:solidFill>
                <a:latin typeface="Helvetica"/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400" b="1">
                <a:solidFill>
                  <a:srgbClr val="171D2C"/>
                </a:solidFill>
                <a:latin typeface="Helvetica"/>
              </a:defRPr>
            </a:pPr>
            <a:r>
              <a:t>Alta Disponibilidad (99.99%)</a:t>
            </a:r>
          </a:p>
          <a:p>
            <a:pPr>
              <a:defRPr sz="1200">
                <a:solidFill>
                  <a:srgbClr val="6C757D"/>
                </a:solidFill>
                <a:latin typeface="Helvetica"/>
              </a:defRPr>
            </a:pPr>
            <a:r>
              <a:t>Arquitectura Serverless en la nube que elimina caídas de servidor y soporta accesos simultáneos sin interrupciones.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55448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1554480"/>
            <a:ext cx="2468880" cy="109728"/>
          </a:xfrm>
          <a:prstGeom prst="roundRect">
            <a:avLst/>
          </a:prstGeom>
          <a:solidFill>
            <a:srgbClr val="17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828800"/>
            <a:ext cx="2103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71D2C"/>
                </a:solidFill>
                <a:latin typeface="Helvetica"/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400" b="1">
                <a:solidFill>
                  <a:srgbClr val="171D2C"/>
                </a:solidFill>
                <a:latin typeface="Helvetica"/>
              </a:defRPr>
            </a:pPr>
            <a:r>
              <a:t>Privacidad y Jerarquía Estricta</a:t>
            </a:r>
          </a:p>
          <a:p>
            <a:pPr>
              <a:defRPr sz="1200">
                <a:solidFill>
                  <a:srgbClr val="6C757D"/>
                </a:solidFill>
                <a:latin typeface="Helvetica"/>
              </a:defRPr>
            </a:pPr>
            <a:r>
              <a:t>Cada Director y Gerente accede exclusivamente a los datos de su Dirección, sus reportes directos e indirectos.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246888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2103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563EB"/>
                </a:solidFill>
                <a:latin typeface="Helvetica"/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400" b="1">
                <a:solidFill>
                  <a:srgbClr val="171D2C"/>
                </a:solidFill>
                <a:latin typeface="Helvetica"/>
              </a:defRPr>
            </a:pPr>
            <a:r>
              <a:t>Veracidad e Integridad de Datos</a:t>
            </a:r>
          </a:p>
          <a:p>
            <a:pPr>
              <a:defRPr sz="1200">
                <a:solidFill>
                  <a:srgbClr val="6C757D"/>
                </a:solidFill>
                <a:latin typeface="Helvetica"/>
              </a:defRPr>
            </a:pPr>
            <a:r>
              <a:t>Información conectada en tiempo real a Supabase (PostgreSQL), alimentada por fuentes oficiales validadas.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55448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0" y="1554480"/>
            <a:ext cx="2468880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828800"/>
            <a:ext cx="2103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0B981"/>
                </a:solidFill>
                <a:latin typeface="Helvetica"/>
              </a:defRPr>
            </a:pPr>
            <a:r>
              <a:t>04</a:t>
            </a:r>
          </a:p>
          <a:p>
            <a:pPr>
              <a:spcAft>
                <a:spcPts val="1200"/>
              </a:spcAft>
              <a:defRPr sz="1400" b="1">
                <a:solidFill>
                  <a:srgbClr val="171D2C"/>
                </a:solidFill>
                <a:latin typeface="Helvetica"/>
              </a:defRPr>
            </a:pPr>
            <a:r>
              <a:t>Fácil Montaje y Mantenimiento</a:t>
            </a:r>
          </a:p>
          <a:p>
            <a:pPr>
              <a:defRPr sz="1200">
                <a:solidFill>
                  <a:srgbClr val="6C757D"/>
                </a:solidFill>
                <a:latin typeface="Helvetica"/>
              </a:defRPr>
            </a:pPr>
            <a:r>
              <a:t>Despliegue ágil vía Vercel/Netlify conectado directamente a GitHub, facilitando actualizaciones automáticas.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291C"/>
                </a:solidFill>
                <a:latin typeface="Helvetica"/>
              </a:defRPr>
            </a:pPr>
            <a:r>
              <a:t>INFRAESTRUCTURA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71D2C"/>
                </a:solidFill>
                <a:latin typeface="Helvetica"/>
              </a:defRPr>
            </a:pPr>
            <a:r>
              <a:t>Arquitectura Cloud: Cero Caídas y Máxima Seguridad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383280" cy="100584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Capa de Presentación (Frontend)</a:t>
            </a:r>
          </a:p>
          <a:p>
            <a:pPr>
              <a:defRPr sz="1100">
                <a:solidFill>
                  <a:srgbClr val="DCE6F5"/>
                </a:solidFill>
                <a:latin typeface="Helvetica"/>
              </a:defRPr>
            </a:pPr>
            <a:r>
              <a:t>Vercel / Netlify / CDN Global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43200"/>
            <a:ext cx="2926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50">
                <a:solidFill>
                  <a:srgbClr val="212529"/>
                </a:solidFill>
                <a:latin typeface="Helvetica"/>
              </a:defRPr>
            </a:pPr>
            <a:r>
              <a:t>•  Alojado en red global edge CDN.</a:t>
            </a:r>
          </a:p>
          <a:p>
            <a:pPr>
              <a:spcAft>
                <a:spcPts val="1000"/>
              </a:spcAft>
              <a:defRPr sz="1150">
                <a:solidFill>
                  <a:srgbClr val="212529"/>
                </a:solidFill>
                <a:latin typeface="Helvetica"/>
              </a:defRPr>
            </a:pPr>
            <a:r>
              <a:t>•  Cero servidores que reiniciar o saturar.</a:t>
            </a:r>
          </a:p>
          <a:p>
            <a:pPr>
              <a:spcAft>
                <a:spcPts val="1000"/>
              </a:spcAft>
              <a:defRPr sz="1150">
                <a:solidFill>
                  <a:srgbClr val="212529"/>
                </a:solidFill>
                <a:latin typeface="Helvetica"/>
              </a:defRPr>
            </a:pPr>
            <a:r>
              <a:t>•  Tiempo de carga inferior a 1 segundo.</a:t>
            </a:r>
          </a:p>
          <a:p>
            <a:pPr>
              <a:spcAft>
                <a:spcPts val="1000"/>
              </a:spcAft>
              <a:defRPr sz="1150">
                <a:solidFill>
                  <a:srgbClr val="212529"/>
                </a:solidFill>
                <a:latin typeface="Helvetica"/>
              </a:defRPr>
            </a:pPr>
            <a:r>
              <a:t>•  Certificado SSL (HTTPS) automático.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54480"/>
            <a:ext cx="3383280" cy="1005840"/>
          </a:xfrm>
          <a:prstGeom prst="rect">
            <a:avLst/>
          </a:prstGeom>
          <a:solidFill>
            <a:srgbClr val="17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916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Capa de Autenticación &amp; Control</a:t>
            </a:r>
          </a:p>
          <a:p>
            <a:pPr>
              <a:defRPr sz="1100">
                <a:solidFill>
                  <a:srgbClr val="DCE6F5"/>
                </a:solidFill>
                <a:latin typeface="Helvetica"/>
              </a:defRPr>
            </a:pPr>
            <a:r>
              <a:t>Supabase Auth &amp; RLS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743200"/>
            <a:ext cx="2926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50">
                <a:solidFill>
                  <a:srgbClr val="212529"/>
                </a:solidFill>
                <a:latin typeface="Helvetica"/>
              </a:defRPr>
            </a:pPr>
            <a:r>
              <a:t>•  Login seguro por correo corporativo Claro.</a:t>
            </a:r>
          </a:p>
          <a:p>
            <a:pPr>
              <a:spcAft>
                <a:spcPts val="1000"/>
              </a:spcAft>
              <a:defRPr sz="1150">
                <a:solidFill>
                  <a:srgbClr val="212529"/>
                </a:solidFill>
                <a:latin typeface="Helvetica"/>
              </a:defRPr>
            </a:pPr>
            <a:r>
              <a:t>•  Tokens JWT encriptados por sesión.</a:t>
            </a:r>
          </a:p>
          <a:p>
            <a:pPr>
              <a:spcAft>
                <a:spcPts val="1000"/>
              </a:spcAft>
              <a:defRPr sz="1150">
                <a:solidFill>
                  <a:srgbClr val="212529"/>
                </a:solidFill>
                <a:latin typeface="Helvetica"/>
              </a:defRPr>
            </a:pPr>
            <a:r>
              <a:t>•  Validación automática de Dirección / Gerencia.</a:t>
            </a:r>
          </a:p>
          <a:p>
            <a:pPr>
              <a:spcAft>
                <a:spcPts val="1000"/>
              </a:spcAft>
              <a:defRPr sz="1150">
                <a:solidFill>
                  <a:srgbClr val="212529"/>
                </a:solidFill>
                <a:latin typeface="Helvetica"/>
              </a:defRPr>
            </a:pPr>
            <a:r>
              <a:t>•  Imposible vulnerar desde el navegador.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554480"/>
            <a:ext cx="338328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6916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Capa de Datos &amp; Base de Datos</a:t>
            </a:r>
          </a:p>
          <a:p>
            <a:pPr>
              <a:defRPr sz="1100">
                <a:solidFill>
                  <a:srgbClr val="DCE6F5"/>
                </a:solidFill>
                <a:latin typeface="Helvetica"/>
              </a:defRPr>
            </a:pPr>
            <a:r>
              <a:t>Supabase PostgreSQL (AWS Cloud)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743200"/>
            <a:ext cx="2926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50">
                <a:solidFill>
                  <a:srgbClr val="212529"/>
                </a:solidFill>
                <a:latin typeface="Helvetica"/>
              </a:defRPr>
            </a:pPr>
            <a:r>
              <a:t>•  Base de datos relacional PostgreSQL 15.</a:t>
            </a:r>
          </a:p>
          <a:p>
            <a:pPr>
              <a:spcAft>
                <a:spcPts val="1000"/>
              </a:spcAft>
              <a:defRPr sz="1150">
                <a:solidFill>
                  <a:srgbClr val="212529"/>
                </a:solidFill>
                <a:latin typeface="Helvetica"/>
              </a:defRPr>
            </a:pPr>
            <a:r>
              <a:t>•  Políticas de seguridad a nivel de fila (RLS).</a:t>
            </a:r>
          </a:p>
          <a:p>
            <a:pPr>
              <a:spcAft>
                <a:spcPts val="1000"/>
              </a:spcAft>
              <a:defRPr sz="1150">
                <a:solidFill>
                  <a:srgbClr val="212529"/>
                </a:solidFill>
                <a:latin typeface="Helvetica"/>
              </a:defRPr>
            </a:pPr>
            <a:r>
              <a:t>•  Backups diarios automáticos.</a:t>
            </a:r>
          </a:p>
          <a:p>
            <a:pPr>
              <a:spcAft>
                <a:spcPts val="1000"/>
              </a:spcAft>
              <a:defRPr sz="1150">
                <a:solidFill>
                  <a:srgbClr val="212529"/>
                </a:solidFill>
                <a:latin typeface="Helvetica"/>
              </a:defRPr>
            </a:pPr>
            <a:r>
              <a:t>•  Escalabilidad automática para alto tráfico.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291C"/>
                </a:solidFill>
                <a:latin typeface="Helvetica"/>
              </a:defRPr>
            </a:pPr>
            <a:r>
              <a:t>SEGURIDAD &amp; PRIVACIDAD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71D2C"/>
                </a:solidFill>
                <a:latin typeface="Helvetica"/>
              </a:defRPr>
            </a:pPr>
            <a:r>
              <a:t>Modelo de Acceso por Roles y Jerarquía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783080"/>
            <a:ext cx="3017520" cy="365760"/>
          </a:xfrm>
          <a:prstGeom prst="round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DIRECTOR CORPORATIVO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71D2C"/>
                </a:solidFill>
                <a:latin typeface="Helvetica"/>
              </a:defRPr>
            </a:pPr>
            <a:r>
              <a:t>Visualiza toda su Dirección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88920"/>
            <a:ext cx="2926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50">
                <a:solidFill>
                  <a:srgbClr val="212529"/>
                </a:solidFill>
                <a:latin typeface="Helvetica"/>
              </a:defRPr>
            </a:pPr>
            <a:r>
              <a:t>✔  Acceso al consolidado macro de su Dirección.</a:t>
            </a:r>
          </a:p>
          <a:p>
            <a:pPr>
              <a:spcAft>
                <a:spcPts val="1000"/>
              </a:spcAft>
              <a:defRPr sz="1150">
                <a:solidFill>
                  <a:srgbClr val="212529"/>
                </a:solidFill>
                <a:latin typeface="Helvetica"/>
              </a:defRPr>
            </a:pPr>
            <a:r>
              <a:t>✔  Visualiza todas las Gerencias dependientes.</a:t>
            </a:r>
          </a:p>
          <a:p>
            <a:pPr>
              <a:spcAft>
                <a:spcPts val="1000"/>
              </a:spcAft>
              <a:defRPr sz="1150">
                <a:solidFill>
                  <a:srgbClr val="212529"/>
                </a:solidFill>
                <a:latin typeface="Helvetica"/>
              </a:defRPr>
            </a:pPr>
            <a:r>
              <a:t>✔  Acceso a las matrices Nine-Box y Fichas de Talento de todo su personal a cargo.</a:t>
            </a:r>
          </a:p>
          <a:p>
            <a:pPr>
              <a:spcAft>
                <a:spcPts val="1000"/>
              </a:spcAft>
              <a:defRPr sz="1150">
                <a:solidFill>
                  <a:srgbClr val="212529"/>
                </a:solidFill>
                <a:latin typeface="Helvetica"/>
              </a:defRPr>
            </a:pPr>
            <a:r>
              <a:t>✔  Filtro dinámico por gerencias subordinadas.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017520" cy="365760"/>
          </a:xfrm>
          <a:prstGeom prst="roundRect">
            <a:avLst/>
          </a:prstGeom>
          <a:solidFill>
            <a:srgbClr val="17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GERENTE DE ÁREA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40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71D2C"/>
                </a:solidFill>
                <a:latin typeface="Helvetica"/>
              </a:defRPr>
            </a:pPr>
            <a:r>
              <a:t>Visualiza exclusivamente su Gerencia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788920"/>
            <a:ext cx="2926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50">
                <a:solidFill>
                  <a:srgbClr val="212529"/>
                </a:solidFill>
                <a:latin typeface="Helvetica"/>
              </a:defRPr>
            </a:pPr>
            <a:r>
              <a:t>✔  Acceso restringido a su Gerencia específica.</a:t>
            </a:r>
          </a:p>
          <a:p>
            <a:pPr>
              <a:spcAft>
                <a:spcPts val="1000"/>
              </a:spcAft>
              <a:defRPr sz="1150">
                <a:solidFill>
                  <a:srgbClr val="212529"/>
                </a:solidFill>
                <a:latin typeface="Helvetica"/>
              </a:defRPr>
            </a:pPr>
            <a:r>
              <a:t>✔  Visualiza a sus Jefes directos y equipos correspondientes.</a:t>
            </a:r>
          </a:p>
          <a:p>
            <a:pPr>
              <a:spcAft>
                <a:spcPts val="1000"/>
              </a:spcAft>
              <a:defRPr sz="1150">
                <a:solidFill>
                  <a:srgbClr val="212529"/>
                </a:solidFill>
                <a:latin typeface="Helvetica"/>
              </a:defRPr>
            </a:pPr>
            <a:r>
              <a:t>✔  Bloqueo estricto a gerencias o direcciones ajenas.</a:t>
            </a:r>
          </a:p>
          <a:p>
            <a:pPr>
              <a:spcAft>
                <a:spcPts val="1000"/>
              </a:spcAft>
              <a:defRPr sz="1150">
                <a:solidFill>
                  <a:srgbClr val="212529"/>
                </a:solidFill>
                <a:latin typeface="Helvetica"/>
              </a:defRPr>
            </a:pPr>
            <a:r>
              <a:t>✔  Navegación en cascada por reportes directos.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1783080"/>
            <a:ext cx="301752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TALENTO HUMANO /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240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71D2C"/>
                </a:solidFill>
                <a:latin typeface="Helvetica"/>
              </a:defRPr>
            </a:pPr>
            <a:r>
              <a:t>Visión Estratégica Organizacional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788920"/>
            <a:ext cx="2926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50">
                <a:solidFill>
                  <a:srgbClr val="212529"/>
                </a:solidFill>
                <a:latin typeface="Helvetica"/>
              </a:defRPr>
            </a:pPr>
            <a:r>
              <a:t>✔  Acceso transversal a todas las Direcciones.</a:t>
            </a:r>
          </a:p>
          <a:p>
            <a:pPr>
              <a:spcAft>
                <a:spcPts val="1000"/>
              </a:spcAft>
              <a:defRPr sz="1150">
                <a:solidFill>
                  <a:srgbClr val="212529"/>
                </a:solidFill>
                <a:latin typeface="Helvetica"/>
              </a:defRPr>
            </a:pPr>
            <a:r>
              <a:t>✔  Gestión y actualización de datos maestros.</a:t>
            </a:r>
          </a:p>
          <a:p>
            <a:pPr>
              <a:spcAft>
                <a:spcPts val="1000"/>
              </a:spcAft>
              <a:defRPr sz="1150">
                <a:solidFill>
                  <a:srgbClr val="212529"/>
                </a:solidFill>
                <a:latin typeface="Helvetica"/>
              </a:defRPr>
            </a:pPr>
            <a:r>
              <a:t>✔  Métricas globales de 9-Box, Desempeño y Sucesores.</a:t>
            </a:r>
          </a:p>
          <a:p>
            <a:pPr>
              <a:spcAft>
                <a:spcPts val="1000"/>
              </a:spcAft>
              <a:defRPr sz="1150">
                <a:solidFill>
                  <a:srgbClr val="212529"/>
                </a:solidFill>
                <a:latin typeface="Helvetica"/>
              </a:defRPr>
            </a:pPr>
            <a:r>
              <a:t>✔  Auditoría y control de accesos.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291C"/>
                </a:solidFill>
                <a:latin typeface="Helvetica"/>
              </a:defRPr>
            </a:pPr>
            <a:r>
              <a:t>DISEÑO &amp; FUNCIONALIDADES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71D2C"/>
                </a:solidFill>
                <a:latin typeface="Helvetica"/>
              </a:defRPr>
            </a:pPr>
            <a:r>
              <a:t>Módulos y Experiencia de Usuario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9728" cy="2011680"/>
          </a:xfrm>
          <a:prstGeom prst="round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71D2C"/>
                </a:solidFill>
                <a:latin typeface="Helvetica"/>
              </a:defRPr>
            </a:pPr>
            <a:r>
              <a:t>1. Portal de Login Seguro</a:t>
            </a:r>
          </a:p>
          <a:p>
            <a:pPr>
              <a:defRPr sz="1200">
                <a:solidFill>
                  <a:srgbClr val="6C757D"/>
                </a:solidFill>
                <a:latin typeface="Helvetica"/>
              </a:defRPr>
            </a:pPr>
            <a:r>
              <a:t>Acceso vía correo institucional (@claro.com.co). Detección automática del perfil y jerarquía del líder.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109728" cy="2011680"/>
          </a:xfrm>
          <a:prstGeom prst="roundRect">
            <a:avLst/>
          </a:prstGeom>
          <a:solidFill>
            <a:srgbClr val="17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71D2C"/>
                </a:solidFill>
                <a:latin typeface="Helvetica"/>
              </a:defRPr>
            </a:pPr>
            <a:r>
              <a:t>2. Resumen Ejecutivo (KPIs)</a:t>
            </a:r>
          </a:p>
          <a:p>
            <a:pPr>
              <a:defRPr sz="1200">
                <a:solidFill>
                  <a:srgbClr val="6C757D"/>
                </a:solidFill>
                <a:latin typeface="Helvetica"/>
              </a:defRPr>
            </a:pPr>
            <a:r>
              <a:t>Headcount total del área, índice de talento crítico, promedio de desempeño (2024-2026) y clima.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9728" cy="20116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233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71D2C"/>
                </a:solidFill>
                <a:latin typeface="Helvetica"/>
              </a:defRPr>
            </a:pPr>
            <a:r>
              <a:t>3. Matriz 9-Box Dinámica</a:t>
            </a:r>
          </a:p>
          <a:p>
            <a:pPr>
              <a:defRPr sz="1200">
                <a:solidFill>
                  <a:srgbClr val="6C757D"/>
                </a:solidFill>
                <a:latin typeface="Helvetica"/>
              </a:defRPr>
            </a:pPr>
            <a:r>
              <a:t>Mapa de 9 cuadrantes con filtrado interactivo. Clic sobre cualquier colaborador para ver su detalle.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4048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3840480"/>
            <a:ext cx="109728" cy="20116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0233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71D2C"/>
                </a:solidFill>
                <a:latin typeface="Helvetica"/>
              </a:defRPr>
            </a:pPr>
            <a:r>
              <a:t>4. Ficha de Talento Integrada</a:t>
            </a:r>
          </a:p>
          <a:p>
            <a:pPr>
              <a:defRPr sz="1200">
                <a:solidFill>
                  <a:srgbClr val="6C757D"/>
                </a:solidFill>
                <a:latin typeface="Helvetica"/>
              </a:defRPr>
            </a:pPr>
            <a:r>
              <a:t>Visualización instantánea de experiencia, competencias, fortalezas, oportunidades y planes de sucesión.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291C"/>
                </a:solidFill>
                <a:latin typeface="Helvetica"/>
              </a:defRPr>
            </a:pPr>
            <a:r>
              <a:t>RUTA DE EJECUCIÓN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71D2C"/>
                </a:solidFill>
                <a:latin typeface="Helvetica"/>
              </a:defRPr>
            </a:pPr>
            <a:r>
              <a:t>Plan de Trabajo en 4 Fases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2468880" cy="82296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FASE 1  •  Días 1 - 2</a:t>
            </a:r>
          </a:p>
          <a:p>
            <a:pPr>
              <a:defRPr sz="1150" b="1">
                <a:solidFill>
                  <a:srgbClr val="FFFFFF"/>
                </a:solidFill>
                <a:latin typeface="Helvetica"/>
              </a:defRPr>
            </a:pPr>
            <a:r>
              <a:t>Estructuración en Base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  <a:latin typeface="Helvetica"/>
              </a:defRPr>
            </a:pPr>
            <a:r>
              <a:t>• Creación de tabla de usuarios y roles en Supabase.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  <a:latin typeface="Helvetica"/>
              </a:defRPr>
            </a:pPr>
            <a:r>
              <a:t>• Definición de políticas RLS y funciones de jerarquía.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  <a:latin typeface="Helvetica"/>
              </a:defRPr>
            </a:pPr>
            <a:r>
              <a:t>• Validación de correos y asignación de directores/gerentes.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55448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554480"/>
            <a:ext cx="2468880" cy="822960"/>
          </a:xfrm>
          <a:prstGeom prst="rect">
            <a:avLst/>
          </a:prstGeom>
          <a:solidFill>
            <a:srgbClr val="17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6459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FASE 2  •  Días 3 - 5</a:t>
            </a:r>
          </a:p>
          <a:p>
            <a:pPr>
              <a:defRPr sz="1150" b="1">
                <a:solidFill>
                  <a:srgbClr val="FFFFFF"/>
                </a:solidFill>
                <a:latin typeface="Helvetica"/>
              </a:defRPr>
            </a:pPr>
            <a:r>
              <a:t>Desarrollo del Tablero 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51460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  <a:latin typeface="Helvetica"/>
              </a:defRPr>
            </a:pPr>
            <a:r>
              <a:t>• Construcción de interfaz ejecutiva (Tailwind CSS).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  <a:latin typeface="Helvetica"/>
              </a:defRPr>
            </a:pPr>
            <a:r>
              <a:t>• Integración de componentes interactivos (9-Box, KPIs).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  <a:latin typeface="Helvetica"/>
              </a:defRPr>
            </a:pPr>
            <a:r>
              <a:t>• Conexión en tiempo real a Supabase Client SDK.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5448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554480"/>
            <a:ext cx="246888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6459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FASE 3  •  Días 6 - 7</a:t>
            </a:r>
          </a:p>
          <a:p>
            <a:pPr>
              <a:defRPr sz="1150" b="1">
                <a:solidFill>
                  <a:srgbClr val="FFFFFF"/>
                </a:solidFill>
                <a:latin typeface="Helvetica"/>
              </a:defRPr>
            </a:pPr>
            <a:r>
              <a:t>Pruebas de Seguridad y 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51460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  <a:latin typeface="Helvetica"/>
              </a:defRPr>
            </a:pPr>
            <a:r>
              <a:t>• Simulación de inicio de sesión con distintos directores.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  <a:latin typeface="Helvetica"/>
              </a:defRPr>
            </a:pPr>
            <a:r>
              <a:t>• Verificación de aislamiento de datos entre gerencias.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  <a:latin typeface="Helvetica"/>
              </a:defRPr>
            </a:pPr>
            <a:r>
              <a:t>• Validación de tiempos de respuesta y carga.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55448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1120" y="1554480"/>
            <a:ext cx="2468880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6459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FASE 4  •  Día 8</a:t>
            </a:r>
          </a:p>
          <a:p>
            <a:pPr>
              <a:defRPr sz="1150" b="1">
                <a:solidFill>
                  <a:srgbClr val="FFFFFF"/>
                </a:solidFill>
                <a:latin typeface="Helvetica"/>
              </a:defRPr>
            </a:pPr>
            <a:r>
              <a:t>Despliegue y Puesta en Marcha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51460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  <a:latin typeface="Helvetica"/>
              </a:defRPr>
            </a:pPr>
            <a:r>
              <a:t>• Conexión con repositorio GitHub y despliegue a Vercel.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  <a:latin typeface="Helvetica"/>
              </a:defRPr>
            </a:pPr>
            <a:r>
              <a:t>• Configuración de dominio/enlace seguro SSL.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  <a:latin typeface="Helvetica"/>
              </a:defRPr>
            </a:pPr>
            <a:r>
              <a:t>• Entrega de accesos y guía rápida para líderes.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291C"/>
                </a:solidFill>
                <a:latin typeface="Helvetica"/>
              </a:defRPr>
            </a:pPr>
            <a:r>
              <a:t>VALOR DE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71D2C"/>
                </a:solidFill>
                <a:latin typeface="Helvetica"/>
              </a:defRPr>
            </a:pPr>
            <a:r>
              <a:t>Beneficios Estratégicos y Factores de Éxito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9728" cy="2011680"/>
          </a:xfrm>
          <a:prstGeom prst="round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71D2C"/>
                </a:solidFill>
                <a:latin typeface="Helvetica"/>
              </a:defRPr>
            </a:pPr>
            <a:r>
              <a:t>★  0 Caídas de Servidor (Serverless)</a:t>
            </a:r>
          </a:p>
          <a:p>
            <a:pPr>
              <a:defRPr sz="1200">
                <a:solidFill>
                  <a:srgbClr val="6C757D"/>
                </a:solidFill>
                <a:latin typeface="Helvetica"/>
              </a:defRPr>
            </a:pPr>
            <a:r>
              <a:t>Sin infraestructura local que mantener. 99.99% de disponibilidad garantizada por AWS y Vercel.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109728" cy="2011680"/>
          </a:xfrm>
          <a:prstGeom prst="roundRect">
            <a:avLst/>
          </a:prstGeom>
          <a:solidFill>
            <a:srgbClr val="17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71D2C"/>
                </a:solidFill>
                <a:latin typeface="Helvetica"/>
              </a:defRPr>
            </a:pPr>
            <a:r>
              <a:t>★  Garantía Total de Privacidad</a:t>
            </a:r>
          </a:p>
          <a:p>
            <a:pPr>
              <a:defRPr sz="1200">
                <a:solidFill>
                  <a:srgbClr val="6C757D"/>
                </a:solidFill>
                <a:latin typeface="Helvetica"/>
              </a:defRPr>
            </a:pPr>
            <a:r>
              <a:t>Ningún líder puede acceder a la información de talento de otra área; el filtro es inviolable a nivel de BD.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9728" cy="20116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233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71D2C"/>
                </a:solidFill>
                <a:latin typeface="Helvetica"/>
              </a:defRPr>
            </a:pPr>
            <a:r>
              <a:t>★  Toma de Decisiones Ágil</a:t>
            </a:r>
          </a:p>
          <a:p>
            <a:pPr>
              <a:defRPr sz="1200">
                <a:solidFill>
                  <a:srgbClr val="6C757D"/>
                </a:solidFill>
                <a:latin typeface="Helvetica"/>
              </a:defRPr>
            </a:pPr>
            <a:r>
              <a:t>Directores y Gerentes cuentan con una visión 360 de sus equipos en segundos desde cualquier dispositivo.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4048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3840480"/>
            <a:ext cx="109728" cy="20116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0233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71D2C"/>
                </a:solidFill>
                <a:latin typeface="Helvetica"/>
              </a:defRPr>
            </a:pPr>
            <a:r>
              <a:t>★  Escalable y Sostenible</a:t>
            </a:r>
          </a:p>
          <a:p>
            <a:pPr>
              <a:defRPr sz="1200">
                <a:solidFill>
                  <a:srgbClr val="6C757D"/>
                </a:solidFill>
                <a:latin typeface="Helvetica"/>
              </a:defRPr>
            </a:pPr>
            <a:r>
              <a:t>Capacidad inmediata de sumar nuevos directores, métricas o evaluaciones sin rehacer la arquitectura.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47472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DA291C"/>
                </a:solidFill>
                <a:latin typeface="Helvetica"/>
              </a:defRPr>
            </a:pPr>
            <a:r>
              <a:t>PLAN DE ACCIÓN INMEDIATO</a:t>
            </a:r>
          </a:p>
          <a:p>
            <a:pPr>
              <a:spcAft>
                <a:spcPts val="1600"/>
              </a:spcAft>
              <a:defRPr sz="3000" b="1">
                <a:solidFill>
                  <a:srgbClr val="FFFFFF"/>
                </a:solidFill>
                <a:latin typeface="Helvetica"/>
              </a:defRPr>
            </a:pPr>
            <a:r>
              <a:t>¿Listos para Iniciar la Construcción?</a:t>
            </a:r>
          </a:p>
          <a:p>
            <a:pPr>
              <a:spcAft>
                <a:spcPts val="800"/>
              </a:spcAft>
              <a:defRPr sz="1400">
                <a:solidFill>
                  <a:srgbClr val="D2DCEB"/>
                </a:solidFill>
                <a:latin typeface="Helvetica"/>
              </a:defRPr>
            </a:pPr>
            <a:r>
              <a:t>1. Crear el script SQL de control de roles y permisos jerárquicos en Supabase.</a:t>
            </a:r>
          </a:p>
          <a:p>
            <a:pPr>
              <a:spcAft>
                <a:spcPts val="800"/>
              </a:spcAft>
              <a:defRPr sz="1400">
                <a:solidFill>
                  <a:srgbClr val="D2DCEB"/>
                </a:solidFill>
                <a:latin typeface="Helvetica"/>
              </a:defRPr>
            </a:pPr>
            <a:r>
              <a:t>2. Desarrollar el archivo del Tablero de Líderes con diseño corporativo y autenticación.</a:t>
            </a:r>
          </a:p>
          <a:p>
            <a:pPr>
              <a:spcAft>
                <a:spcPts val="800"/>
              </a:spcAft>
              <a:defRPr sz="1400">
                <a:solidFill>
                  <a:srgbClr val="D2DCEB"/>
                </a:solidFill>
                <a:latin typeface="Helvetica"/>
              </a:defRPr>
            </a:pPr>
            <a:r>
              <a:t>3. Realizar pruebas piloto con 1 Director y 1 Gerente.</a:t>
            </a:r>
          </a:p>
          <a:p>
            <a:pPr>
              <a:spcAft>
                <a:spcPts val="800"/>
              </a:spcAft>
              <a:defRPr sz="1400">
                <a:solidFill>
                  <a:srgbClr val="D2DCEB"/>
                </a:solidFill>
                <a:latin typeface="Helvetica"/>
              </a:defRPr>
            </a:pPr>
            <a:r>
              <a:t>4. Publicar la versión final en el entorno web oficial.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