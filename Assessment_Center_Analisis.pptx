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8112D"/>
                </a:solidFill>
                <a:latin typeface="Calibri"/>
              </a:defRPr>
            </a:pPr>
            <a:r>
              <a:t>ASSESSMENT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Analista Senior /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Análisis Exploratorio de Dataset Organizacional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572000"/>
            <a:ext cx="4876495" cy="54864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Bloque 1 — Caso Técnico (90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0" y="2743200"/>
            <a:ext cx="3047695" cy="54864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112D"/>
                </a:solidFill>
                <a:latin typeface="Calibri"/>
              </a:defRPr>
            </a:pPr>
            <a:r>
              <a:t>BLOQUE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Presentación Ejecutiva — 20 min — VP de Operaciones + Director de Talento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112D"/>
                </a:solidFill>
                <a:latin typeface="Calibri"/>
              </a:defRPr>
            </a:pPr>
            <a:r>
              <a:t>ESTADO DE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Dataset: 15.000 registros × 10 columnas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737360" cy="11887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112D"/>
                </a:solidFill>
                <a:latin typeface="Calibri"/>
              </a:defRPr>
            </a:pPr>
            <a:r>
              <a:t>15.000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Registros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63040"/>
            <a:ext cx="1737360" cy="11887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112D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Columnas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1737360" cy="11887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112D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IDs válidos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1737360" cy="11887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112D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Salarios</a:t>
            </a:r>
            <a:br/>
            <a:r>
              <a:t>"Inconsistente"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63040"/>
            <a:ext cx="1737360" cy="11887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112D"/>
                </a:solidFill>
                <a:latin typeface="Calibri"/>
              </a:defRPr>
            </a:pPr>
            <a:r>
              <a:t>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Salarios</a:t>
            </a:r>
            <a:br/>
            <a:r>
              <a:t>negativos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1463040"/>
            <a:ext cx="1737360" cy="11887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112D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011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IDs</a:t>
            </a:r>
            <a:br/>
            <a:r>
              <a:t>duplicados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Columna "Segumiento" con error tipográfico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150 registros (1%) sin Área definida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300 registros (2%) sin ID de identificación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Áreas duplicadas: "Compras" (1.342) vs "Comprass" (66)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81 registros con Salario = "Inconsistente"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69 salarios negativos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1.373 outliers salariales (método IQR)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"Corporativo" tiene solo 1 persona (Presidente) con $99,6M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112D"/>
                </a:solidFill>
                <a:latin typeface="Calibri"/>
              </a:defRPr>
            </a:pPr>
            <a:r>
              <a:t>PRINCIPALES HALLAZGOS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457200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HALLAZGO 1: Distribución por Área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Calibri"/>
              </a:defRPr>
            </a:pPr>
            <a:r>
              <a:t>CAV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54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1.417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54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9,4%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Cartera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83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1.364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83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9,1%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Operación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011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11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9,0%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Compras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240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1.342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240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8,9%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468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1.331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468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8,9%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97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Ventas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1.329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697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Jurídica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1.321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8,8%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154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1.293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154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8,6%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Servicio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383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1.282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383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8,5%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11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Tropas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611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1.261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611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8,4%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840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Ingeniería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1.261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3840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8,4%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005840"/>
            <a:ext cx="5486400" cy="457200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HALLAZGO 2: Distribución por Cargo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554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Analista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1554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13.499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1554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90,0%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1783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Supervisor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1783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1783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3,0%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Director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2011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2011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2,0%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2240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Jefe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2240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240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2,0%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2468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Gerente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2468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468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2,0%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2697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Director Ejecutivo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697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1,0%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2926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112D"/>
                </a:solidFill>
                <a:latin typeface="Calibri"/>
              </a:defRPr>
            </a:pPr>
            <a:r>
              <a:t>Presidente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2926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&lt;0,1%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INSIGHT CLAVE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297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90% son Analistas — pirámide muy plana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Solo 1 Presidente en "Corporativo" ($99,6M)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Relación Analista:Supervisor = 30:1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CAV es el área más grande (1.417 personas)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112D"/>
                </a:solidFill>
                <a:latin typeface="Calibri"/>
              </a:defRPr>
            </a:pPr>
            <a:r>
              <a:t>PRINCIPALES HALLAZGOS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657600" cy="457200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HALLAZGO 3: Equilibrio de Género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182880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980B9"/>
                </a:solidFill>
                <a:latin typeface="Calibri"/>
              </a:defRPr>
            </a:pPr>
            <a:r>
              <a:t>Hombres: 7.502 (50,0%)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112D"/>
                </a:solidFill>
                <a:latin typeface="Calibri"/>
              </a:defRPr>
            </a:pPr>
            <a:r>
              <a:t>Mujeres: 7.498 (50,0%)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Paridad perfecta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05840"/>
            <a:ext cx="3657600" cy="457200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HALLAZGO 4: Área CAV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657600" cy="182880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Total: 1.417 personas (9,4%)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1.273 Analistas, 40 Supervisores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32 Gerentes, 29 Directores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Salario promedio: $9.940.872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05840"/>
            <a:ext cx="3657600" cy="457200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HALLAZGO 5: Análisis Salarial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657600" cy="274320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459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Promedio: $9.761.535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Mediana: $6.394.501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Mínimo: -$4.983.451 (negativo)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Máximo: $99.620.396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81 "Inconsistente"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69 negativos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1.373 outliers (IQR)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⚠ Los salarios NO son confiables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112D"/>
                </a:solidFill>
                <a:latin typeface="Calibri"/>
              </a:defRPr>
            </a:pPr>
            <a:r>
              <a:t>RIESGOS DE USAR ESTOS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77724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112D"/>
                </a:solidFill>
                <a:latin typeface="Calibri"/>
              </a:defRPr>
            </a:pPr>
            <a:r>
              <a:t>CRÍTICO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Salarios corruptos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173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81 "Inconsistente" + 69 negativos + 1.373 outliers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1247120" cy="77724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112D"/>
                </a:solidFill>
                <a:latin typeface="Calibri"/>
              </a:defRPr>
            </a:pPr>
            <a:r>
              <a:t>CRÍTICO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11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Datos faltantes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300 sin ID + 150 sin Área = registros incompletos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39"/>
            <a:ext cx="11247120" cy="77724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03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Calibri"/>
              </a:defRPr>
            </a:pPr>
            <a:r>
              <a:t>ALTO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8803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Inconsistencia en áreas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546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"Compras" vs "Comprass" + "undefined"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11247120" cy="77724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Calibri"/>
              </a:defRPr>
            </a:pPr>
            <a:r>
              <a:t>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IDs duplicados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233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26 personas con mismo ID — distorsiona métricas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1247120" cy="77724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MEDIO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Columna "Seguimiento" vacía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Solo 107 de 15.000 (0,7%)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40680"/>
            <a:ext cx="11247120" cy="77724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MEDIO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Sin validación cruzada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Sexo = Sexo Cargado al 100%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400800"/>
            <a:ext cx="11247120" cy="457200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VEREDICTO: Sí se puede usar, PERO primero hay que limpiar los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112D"/>
                </a:solidFill>
                <a:latin typeface="Calibri"/>
              </a:defRPr>
            </a:pPr>
            <a:r>
              <a:t>RECOMENDACIONES ACCIONABLES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457200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ACCIONES INMEDIATAS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1. Limpiar salarios: "Inconsistente" → NULL, eliminar negativos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2. Resolver 300 IDs faltantes (JOIN con RRHH)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3. Unificar áreas: Compras/Comprass, reclasificar undefined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4. Eliminar 26 IDs duplicados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5. Corregir "Segumiento" → "Seguimiento"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486400" cy="457200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ACCIONES DE TRANSFORMACIÓN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6. Crear campo "Salario_Limpio" = válido o NULL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7. Agregar scoring de calidad: Completo/Parcial/Crítico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8. Validar contra fuente SAPHIRE (nómina real)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9. Regla: salario no puede ser negativo ni &gt;3x promedio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10. Auditoría periódica de calidad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0" y="2743200"/>
            <a:ext cx="3047695" cy="54864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112D"/>
                </a:solidFill>
                <a:latin typeface="Calibri"/>
              </a:defRPr>
            </a:pPr>
            <a:r>
              <a:t>BLOQUE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Story Telling — 30 min — 1 slide para VP (15 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112D"/>
                </a:solidFill>
                <a:latin typeface="Calibri"/>
              </a:defRPr>
            </a:pPr>
            <a:r>
              <a:t>RESUMEN EJECUTIVO PARA 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Dataset de 15.000 empleados — ¿Puede usarlo para decisiones estratégicas?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112D"/>
                </a:solidFill>
                <a:latin typeface="Calibri"/>
              </a:defRPr>
            </a:pPr>
            <a:r>
              <a:t>RESPUESTA: SÍ, PERO PRIMERO HAY QUE LIMPIAR.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6% de datos corruptos. Si se usa sin limpiar, el VP tomará decisiones erróneas.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3566160" cy="21031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112D"/>
                </a:solidFill>
                <a:latin typeface="Calibri"/>
              </a:defRPr>
            </a:pPr>
            <a:r>
              <a:t>15.000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Empleados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90% son Analistas</a:t>
            </a:r>
            <a:br/>
            <a:r>
              <a:t>Pirámide muy plana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77440"/>
            <a:ext cx="3566160" cy="21031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468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112D"/>
                </a:solidFill>
                <a:latin typeface="Calibri"/>
              </a:defRPr>
            </a:pPr>
            <a:r>
              <a:t>1.417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 CAV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832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9,4% del total</a:t>
            </a:r>
            <a:br/>
            <a:r>
              <a:t>Área más grande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77440"/>
            <a:ext cx="3566160" cy="21031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468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112D"/>
                </a:solidFill>
                <a:latin typeface="Calibri"/>
              </a:defRPr>
            </a:pPr>
            <a:r>
              <a:t>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926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Datos Corruptos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3832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81 Inconsistente</a:t>
            </a:r>
            <a:br/>
            <a:r>
              <a:t>69 negativos</a:t>
            </a:r>
            <a:br/>
            <a:r>
              <a:t>1.373 outliers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112D"/>
                </a:solidFill>
                <a:latin typeface="Calibri"/>
              </a:defRPr>
            </a:pPr>
            <a:r>
              <a:t>RECOMENDACIÓN: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1) Limpiar salarios  →  2) Unificar áreas  →  3) Resolver IDs duplicados  →  4) Auditar contra fuente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9C12"/>
                </a:solidFill>
                <a:latin typeface="Calibri"/>
              </a:defRPr>
            </a:pPr>
            <a:r>
              <a:t>"Necesito decisiones ya. ¿Qué me recomiendas hacer con esta información?"</a:t>
            </a:r>
            <a:br/>
            <a:r>
              <a:t>→ LIMPIAR PRIMERO. Sin datos confiables no hay decisión estratégica válida.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0" y="2743200"/>
            <a:ext cx="3047695" cy="54864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112D"/>
                </a:solidFill>
                <a:latin typeface="Calibri"/>
              </a:defRPr>
            </a:pPr>
            <a:r>
              <a:t>BLOQUE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Entrevista Profunda — 30 min — Respuestas orales (no presentar)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112D"/>
                </a:solidFill>
                <a:latin typeface="Calibri"/>
              </a:defRPr>
            </a:pPr>
            <a:r>
              <a:t>BLOQUE 4 — RESPUESTAS DE ENTREVISTA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  <a:latin typeface="Calibri"/>
              </a:defRPr>
            </a:pPr>
            <a:r>
              <a:t>NOTAS: Estas respuestas son ORALES, no se presentan en slides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11247120" cy="7315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112D"/>
                </a:solidFill>
                <a:latin typeface="Calibri"/>
              </a:defRPr>
            </a:pPr>
            <a:r>
              <a:t>P: ¿Cómo decides cuándo un dataset no sirve?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R: Cuando el % de datos corruptos/faltantes supera 10-15% en campos críticos y no hay fuente para imputar. Aquí 6% es borderline.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47120" cy="73152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112D"/>
                </a:solidFill>
                <a:latin typeface="Calibri"/>
              </a:defRPr>
            </a:pPr>
            <a:r>
              <a:t>P: ¿Qué harías si negocio insiste en datos malos?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R: Documentar riesgos por escrito, mostrar ejemplos concretos, ofrecer versión limpia como alternativa.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1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112D"/>
                </a:solidFill>
                <a:latin typeface="Calibri"/>
              </a:defRPr>
            </a:pPr>
            <a:r>
              <a:t>BLOQUE 4 — RESPUESTAS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86868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112D"/>
                </a:solidFill>
                <a:latin typeface="Calibri"/>
              </a:defRPr>
            </a:pPr>
            <a:r>
              <a:t>P: ¿Cómo modelarías este problema? (Técnica)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R: Pipeline ETL: Extract (leer crudo) → Transform (limpiar, imputar, validar) → Load (carga limpia). Python/Pandas con reglas automatizadas.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86868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112D"/>
                </a:solidFill>
                <a:latin typeface="Calibri"/>
              </a:defRPr>
            </a:pPr>
            <a:r>
              <a:t>P: ¿Qué técnicas para categóricos esparsos? (Técnica)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R: One-Hot si baja cardinalidad, Target Encoding si alta, o agrupar raras en "Otros". Aquí: unificar nombres de áreas.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1247120" cy="86868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112D"/>
                </a:solidFill>
                <a:latin typeface="Calibri"/>
              </a:defRPr>
            </a:pPr>
            <a:r>
              <a:t>P: ¿Cómo impacta en decisiones organizacionales? (Negocio)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R: Salario "Inconsistente" distorsiona presupuestos. ID duplicado sobredimensiona áreas. Datos faltantes impide análisis completo.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11247120" cy="86868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75887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112D"/>
                </a:solidFill>
                <a:latin typeface="Calibri"/>
              </a:defRPr>
            </a:pPr>
            <a:r>
              <a:t>P: ¿Qué KPIs propondrías? (Negocio)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R: 1) % completitud, 2) Tasa duplicados, 3) Rango salarial válido, 4) Cobertura seguimiento, 5) Tiempo desde última actualización.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11247120" cy="868680"/>
          </a:xfrm>
          <a:prstGeom prst="round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902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112D"/>
                </a:solidFill>
                <a:latin typeface="Calibri"/>
              </a:defRPr>
            </a:pPr>
            <a:r>
              <a:t>P: ¿Qué es peor: no tener datos o datos malos? (Criterio)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R: Datos malos. Sin datos sabes que no sabes. Con datos malos crees saber y tomas decisiones equivocadas.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